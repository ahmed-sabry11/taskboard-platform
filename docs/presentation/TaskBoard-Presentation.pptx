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5e3a168-5b94-0079-d20f-75f0270173e5}">
          <p14:sldIdLst>
            <p14:sldId id="256"/>
            <p14:sldId id="257"/>
            <p14:sldId id="258"/>
          </p14:sldIdLst>
        </p14:section>
        <p14:section name="Design" id="{73280a51-cdbb-4b75-dd10-3c939e824a2d}">
          <p14:sldIdLst>
            <p14:sldId id="259"/>
            <p14:sldId id="260"/>
            <p14:sldId id="261"/>
          </p14:sldIdLst>
        </p14:section>
        <p14:section name="Implementation" id="{e0925f15-cd42-af51-e759-a7f7aef03fc1}">
          <p14:sldIdLst>
            <p14:sldId id="262"/>
            <p14:sldId id="263"/>
            <p14:sldId id="264"/>
            <p14:sldId id="265"/>
            <p14:sldId id="266"/>
          </p14:sldIdLst>
        </p14:section>
        <p14:section name="Results" id="{686acfb0-47e5-646b-189d-3c7fc2807597}">
          <p14:sldIdLst>
            <p14:sldId id="267"/>
            <p14:sldId id="268"/>
            <p14:sldId id="269"/>
            <p14:sldId id="270"/>
          </p14:sldIdLst>
        </p14:section>
        <p14:section name="Conclusion" id="{f478881e-cfd7-996e-e71c-1753fd742024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2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F2A"/>
                </a:solidFill>
                <a:latin typeface="Calibri"/>
              </a:rPr>
              <a:t>Failed requests per drill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Failed requests (%)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Pod deleted (AWS)</c:v>
                  </c:pt>
                  <c:pt idx="1">
                    <c:v>Full rollout (AWS)</c:v>
                  </c:pt>
                  <c:pt idx="2">
                    <c:v>Node terminated (AWS)</c:v>
                  </c:pt>
                  <c:pt idx="3">
                    <c:v>Node stopped (local, after fix)</c:v>
                  </c:pt>
                  <c:pt idx="4">
                    <c:v>Node stopped (local, before fix)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0.57</c:v>
                </c:pt>
                <c:pt idx="3">
                  <c:v>3.5</c:v>
                </c:pt>
                <c:pt idx="4">
                  <c:v>15.8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F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b"/>
        <c:majorGridlines>
          <c:spPr>
            <a:ln w="6350" cap="flat">
              <a:solidFill>
                <a:srgbClr val="E2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Criteria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B91C1C"/>
              </a:solidFill>
              <a:effectLst/>
            </c:spPr>
          </c:dPt>
          <c:dPt>
            <c:idx val="3"/>
            <c:bubble3D val="0"/>
            <c:spPr>
              <a:solidFill>
                <a:srgbClr val="9AA8A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Met</c:v>
                </c:pt>
                <c:pt idx="1">
                  <c:v>Partly met</c:v>
                </c:pt>
                <c:pt idx="2">
                  <c:v>Not met</c:v>
                </c:pt>
                <c:pt idx="3">
                  <c:v>Not measured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21</c:v>
                </c:pt>
                <c:pt idx="1">
                  <c:v>4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0B1F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title. One sentence: we built the platform that builds, deploys, scales and heals an application without manual steps, and we measured it on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weaknesses the project sets out to remove. Each one maps to a part of the solution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application is deliberately small. It is the workload. What we deliver and evaluate is everything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developer and GitHub on the left, AWS on the right. Only the load balancer and NAT gateway are public. ArgoCD inside the cluster pulls from Git; nothing outside holds cluster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justify each choice: the defence questions file has an answer for every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stages: the pipeline validates, ArgoCD deploys. The pipeline never touches the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ci-ok is the only required check; it passes only if all the others passed or were skipped by the path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from the AWS session: seven applications, all Synced and Healthy. We changed the cluster by hand and ArgoCD reverted it in 1.5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environment was created and destroyed for each session. After destroy we verified ten resource types to confirm nothing billable was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defence in depth: if one control fails, the next still holds. Every row was tested, not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policies the same script showed the frontend could open a connection to PostgreSQL. After: blocked. Same result on kind and on EKS, which use different network plugins.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k6 ramps to 50 virtual users. The graph is the real Grafana panel from the AWS session: ready pods follow the number the autoscaler asks for, then return to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shows failed requests in each drill. The tall bar is the defect we found locally: both backend pods were on the node we stopped. After the fix the same drill is 3.5% locally and 0.57% on AWS, where the load balancer removes dead targets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lesson. In all three cases every pod was Running and Ready while users saw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criteria were written before implementation. We report the ones we missed as openly as the ones we 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limitation on the left has its next step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lesson, then offer the live demo on the local cluster: change a replica count by hand and watch ArgoCD revert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GPJ2617  |  Secure, Auto-Scaling Infrastructure Using GitOps and Kubernetes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|  GPJ2617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Auto-Scaling Multi-Service Infrastructure Using GitOps and Kubernetes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implementation, measured on Amazon EKS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6634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1]    [Student Name 2]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3]    [Student Name 4]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46634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 and Title]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[University]  |  [Faculty]  |  [Academic Year]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deployment is slow, fragile and invisible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one person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16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wait for the one person who knows the steps.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record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816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say what changed on the server, when, or by whom.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46720" y="15544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82880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drift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816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applied by hand make every environment different.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capacity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148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traffic surge degrades or stops the service.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297680" y="3886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416052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found by users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5148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monitoring, the first alert is a complaint.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46720" y="3886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210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security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5148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depend on someone remembering to apply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platform, not the application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TaskBoard, a small React + FastAPI + PostgreSQL app, is only the workload. The deliverable is everything that builds, deploys, scales and recovers it.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35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creates the whole AWS environment and removes it again.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23774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changes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3035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pull request passes tests and security scans before merge.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23774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delivery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035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keeps the cluster identical to Git. No deploy command.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3434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heal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0017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follow load and survive the loss of a pod or a node.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7680" y="43434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50017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 show traffic, errors and latency.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46720" y="43434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every layer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50017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from the repository to the cloud, each verified by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runs in private subnets behind one load balancer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91640" y="2194560"/>
            <a:ext cx="0" cy="41148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548640" y="260604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606040"/>
            <a:ext cx="22860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infra / deploy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91640" y="3429000"/>
            <a:ext cx="0" cy="41148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384048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security scans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92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pulls the desired state from the repository. The pipeline has no access to the cluster.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1463040"/>
            <a:ext cx="8412480" cy="4754880"/>
          </a:xfrm>
          <a:prstGeom prst="roundRect">
            <a:avLst>
              <a:gd name="adj" fmla="val 1538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|  eu-north-1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83280" y="22402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83280" y="224028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83280" y="31546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83280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383280" y="40690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83280" y="406908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key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74920" y="1874520"/>
            <a:ext cx="63550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1208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10.0.0.0/16  |  two Availability Zones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212080" y="2286000"/>
            <a:ext cx="1828800" cy="3611880"/>
          </a:xfrm>
          <a:prstGeom prst="roundRect">
            <a:avLst>
              <a:gd name="adj" fmla="val 4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03520" y="2350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349240" y="27432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49240" y="2743200"/>
            <a:ext cx="1554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from users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349240" y="484632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49240" y="4846320"/>
            <a:ext cx="1554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only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223760" y="2286000"/>
            <a:ext cx="4069080" cy="3611880"/>
          </a:xfrm>
          <a:prstGeom prst="roundRect">
            <a:avLst>
              <a:gd name="adj" fmla="val 2025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0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 |  EKS, two nodes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406640" y="27432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06640" y="274320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418320" y="27432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418320" y="274320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10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406640" y="38404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0664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Autoscaler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418320" y="384048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6C4C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18320" y="384048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volume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406640" y="49834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06640" y="498348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418320" y="49834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418320" y="498348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903720" y="3127248"/>
            <a:ext cx="502920" cy="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9144000" y="3127248"/>
            <a:ext cx="274320" cy="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10287000" y="3520440"/>
            <a:ext cx="0" cy="32004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 per job, each chosen against an alternative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57784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AWS, Amazon EKS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control plane, standard Kubernetes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as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Declarative, cloud-independent, testable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with the repository, no server to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delivery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ArgoCD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model: no cluster credentials outside the cluster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Kustomize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YAML with small per-environment overlays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Prometheus, Grafana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open-source stack locally and on AWS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scanning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Trivy, Gitleaks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Images, configuration and Git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scenarios with pass or fail thresholds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change reaches production by being merged, nothing else</a:t>
            </a:r>
            <a:endParaRPr lang="en-US" sz="3000" dirty="0"/>
          </a:p>
        </p:txBody>
      </p:sp>
      <p:pic>
        <p:nvPicPr>
          <p:cNvPr id="4" name="Image 0" descr="/repo/docs/book/diagrams/delivery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51660"/>
            <a:ext cx="7863840" cy="3931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686800" y="1554480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91540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order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915400" y="219456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network policies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job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frontend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915400" y="4937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migration fails, the sync stops and the running version stays.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change merges without passing seven checks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305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over the full Git history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55448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9659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21305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86 unit and integration tests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01752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5935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check, 29 tests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34840" y="301752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3429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634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scan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35935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images, Trivy, end-to-end smoke test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48056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50566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Dockerfiles, manifests and Terraform checked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434840" y="448056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48920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634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30352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303520" y="50566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validate, 25 plan tests on a mocked provider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503920" y="1554480"/>
            <a:ext cx="3108960" cy="4206240"/>
          </a:xfrm>
          <a:prstGeom prst="roundRect">
            <a:avLst>
              <a:gd name="adj" fmla="val 2353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 s</a:t>
            </a:r>
            <a:endParaRPr lang="en-US" sz="4000" dirty="0"/>
          </a:p>
        </p:txBody>
      </p:sp>
      <p:sp>
        <p:nvSpPr>
          <p:cNvPr id="36" name="Text 33"/>
          <p:cNvSpPr txBox="1"/>
          <p:nvPr/>
        </p:nvSpPr>
        <p:spPr>
          <a:xfrm>
            <a:off x="8778240" y="25328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pipeline time over 17 pull requests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77824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38" name="Text 35"/>
          <p:cNvSpPr txBox="1"/>
          <p:nvPr/>
        </p:nvSpPr>
        <p:spPr>
          <a:xfrm>
            <a:off x="8778240" y="40416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credentials held by the pipeline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778240" y="4754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branch: pull request required, ci-ok required, rules apply to admins.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is the only way to change the cluster</a:t>
            </a:r>
            <a:endParaRPr lang="en-US" sz="3000" dirty="0"/>
          </a:p>
        </p:txBody>
      </p:sp>
      <p:pic>
        <p:nvPicPr>
          <p:cNvPr id="4" name="Image 0" descr="/repo/docs/evaluation/screenshots/aws-argocd-appl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0547"/>
            <a:ext cx="7589520" cy="409122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7607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on EKS: seven applications created from one root application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850392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 s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12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cluster to seven healthy applications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s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37216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revert a manual change to the cluster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s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52303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roll back by reverting a commit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AWS environment is created from code in 12 minutes</a:t>
            </a:r>
            <a:endParaRPr lang="en-US" sz="3000" dirty="0"/>
          </a:p>
        </p:txBody>
      </p:sp>
      <p:pic>
        <p:nvPicPr>
          <p:cNvPr id="4" name="Image 0" descr="/repo/docs/evaluation/screenshots/aws-console-vpc-resourc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87137"/>
            <a:ext cx="7132320" cy="368372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480560" y="5486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VPC as created by Terraform: subnets, route tables and gateways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463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212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in the platform stack, from 7 reusable modules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675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the plan after apply, and nothing left after destroy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434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 encrypted, versioned S3 with locking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role per controller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0.40 USD per hour while it exists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applied at eight layers, each verified by a test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93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 and server-side scanning keep secrets out of Git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993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fixable high or critical vulnerability fails the pipeline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679192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816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1638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user, no build tools in the final image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72200" y="2679192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295351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816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1638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filesystem, no capabilities, enforced at admission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3849624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4123944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39867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network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3342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deny; only four paths opened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172200" y="3849624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4123944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39867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network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43342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in private subnets; only the load balancer is public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020056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7240" y="529437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417320" y="51572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identity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417320" y="55046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keys; one role per controller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172200" y="5020056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529437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0080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7040880" y="51572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040880" y="55046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volumes and Terraform state encrypted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frontend cannot reach the database, and we proved it</a:t>
            </a:r>
            <a:endParaRPr lang="en-US" sz="3000" dirty="0"/>
          </a:p>
        </p:txBody>
      </p:sp>
      <p:pic>
        <p:nvPicPr>
          <p:cNvPr id="4" name="Image 0" descr="/repo/docs/book/diagrams/network-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2609"/>
            <a:ext cx="11064240" cy="200398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6817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checks gave the intended result, on both clusters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20624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4348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434840" y="4434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to frontend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to backend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to database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to backend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753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75320" y="4434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to database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namespaces to the app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pod to the internet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load the backend grew from 2 to 10 pods with zero failed requests</a:t>
            </a:r>
            <a:endParaRPr lang="en-US" sz="3000" dirty="0"/>
          </a:p>
        </p:txBody>
      </p:sp>
      <p:pic>
        <p:nvPicPr>
          <p:cNvPr id="4" name="Image 0" descr="/repo/docs/evaluation/screenshots/aws-grafana-auto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6631"/>
            <a:ext cx="6949440" cy="360469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166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on EKS: pods ready and pods wanted by the autoscaler during the load test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7863840" y="1371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63,108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2121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sent, 0 failed, 0 lost writes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2788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 ms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7863840" y="35387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percentile response time (target under 500 ms)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4206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 s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49560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10 pods; back to 2 pods 266 s after the load ended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577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is immediate. Scale-down waits three minutes so short dips do not remove capacity.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a whole virtual machine cost 0.57% of requests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04672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046720" y="2212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capacity after a node was terminated on AWS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046720" y="2926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305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8046720" y="36758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failed while every pod was replaced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4480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nodes, disruption budgets, 30-second eviction and a delay before shutdown.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by failure found three defects that health checks missed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cached the backend address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01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Service was recreated, every API request timed out.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361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name per request.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back 2 s after recreation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178308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exited while still receiving traffic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401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192 requests failed during a rollout.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361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before shutdown.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failed of 305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178308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210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backend pods on one node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3401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that node removed the backend for 85 s.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321040" y="4361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Descheduler restores the spread.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321040" y="4983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 failed, now 0.57% on AWS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of 29 acceptance criteria met, and every gap has a named cause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4754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669280" y="155448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8978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met (4)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897880" y="2057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images and building the environment need one manual step: the cloud account forbids the identity provider the pipeline needs. One dashboard instead of four.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669280" y="310896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978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met (1)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897880" y="3611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HTTPS. A certificate needs a domain name, and the project has none.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669280" y="466344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9788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 (3)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897880" y="5166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auto-scaling (account quota of two nodes), a two-hour soak, and a timed manual-deployment comparison.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 today is what we would build next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23560" y="2194560"/>
            <a:ext cx="640080" cy="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400800" y="182880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1828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domain, issue a certificate, redirect to HTTPS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697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pushed by a script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23560" y="3063240"/>
            <a:ext cx="640080" cy="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400800" y="269748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9400" y="2697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account, pipeline role, fully automatic path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56616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5661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database pod, no backup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623560" y="3931920"/>
            <a:ext cx="640080" cy="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400800" y="356616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database across two zones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43484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4348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nodes at most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23560" y="4800600"/>
            <a:ext cx="640080" cy="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400800" y="443484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29400" y="4434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autoscaler and a cluster scaling test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530352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303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not delivered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623560" y="5669280"/>
            <a:ext cx="640080" cy="0"/>
          </a:xfrm>
          <a:prstGeom prst="line">
            <a:avLst/>
          </a:prstGeom>
          <a:noFill/>
          <a:ln w="19050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400800" y="530352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2940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alerts to email or chat; external uptime probe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platform should be judged by what users see when things fail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1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from code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1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 commands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1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to 10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under load, 0 failed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1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when a node died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63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github.com/Ahmed-Sabry11/taskboard-platform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Secure, Auto-Scaling Multi-Service Infrastructure Using GitOps and Kubernetes</dc:title>
  <dc:subject>PptxGenJS Presentation</dc:subject>
  <dc:creator>PptxGenJS</dc:creator>
  <cp:lastModifiedBy>PptxGenJS</cp:lastModifiedBy>
  <cp:revision>1</cp:revision>
  <dcterms:created xsi:type="dcterms:W3CDTF">2026-10-13T11:56:15Z</dcterms:created>
  <dcterms:modified xsi:type="dcterms:W3CDTF">2026-10-13T11:56:15Z</dcterms:modified>
</cp:coreProperties>
</file>